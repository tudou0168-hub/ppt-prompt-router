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  <Relationship Id="rId1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重点说明大厅服务在业务增长中的运行质效。上半年累计办理各类业务四十三万四千零六十九件，日均三千五百二十九件，同比增长百分之十二点九。在线上协同方面，线上办件二十二万八千三百六十七件，占比百分之五十二点六，较去年同期提高零点七个百分点。企业主体业务二十七万六千九百二十四件，占总量百分之六十三点八，显示服务企业仍是大厅业务的重要支撑。作为补充口径，截至六月三十日，市场主体存量十一万八千四百五十六户，较去年净增六千八百二十二户；纳税人八万五千七百二十户，较去年增长一万零八百三十五户。总体看，业务增长、线上协同和企业服务在同一时期并行推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说明服务触点如何延伸到基层和群众身边。“一表通”已建立任务部署、督办整改、成效复盘的全链条闭环，并依托个人数仓推动基层数据一次采集、多方复用。上半年已对二十个区直部门、六个办事处和一百零一个村社区完成全覆盖摸排，配置四百一十一个系统账号，并将区级报表精简至一百一十二项。与此同时，联合区总工会打造的政务加工会服务平台已服务群众两万余人次；有诉即办机制上半年解决群众各类诉求一百九十七件。政务加健康和政务加婚检属于已开展的服务场景。这里需要强调，一表通的闭环机制与这些场景并非一条虚构流程，而是共同支撑基层减负和群众体验的并列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半年工作的落点，是把阶段改革转化为常态服务能力，让高效便捷的政务服务触手可及、时刻在线。围绕这一目标，第一是攻坚任务与民生实事，牵头任务编制网络计划书、挂图作战，配合任务实行台账管理。第二是招商包保，推动项目落地，并对企业诉求实行收集、办理、反馈、销号的全链条管理。第三是深化审批改革，承接新事项、巩固已上线事项，聚焦多次跑和往返跑堵点。第四是提升专区增值服务，通过资源联动和服务下沉打通惠企服务末梢。第五是数字赋能，继续完善高小·i政务智能体研发建设，推进免证办和一表通；其中高小·i仍属继续研发建设，不表述为既成能力。第六是服务下沉，持续完善十五分钟便民服务圈，延伸惠企服务，健全有诉即办和微创新机制。六项任务并列推进，共同服务于政务服务持续提质增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roval-router-b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roval-router-b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57200" y="330518"/>
            <a:ext cx="11283696" cy="783717"/>
            <a:chOff x="457200" y="330518"/>
            <a:chExt cx="11283696" cy="783717"/>
          </a:xfrm>
        </p:grpSpPr>
        <p:sp>
          <p:nvSpPr>
            <p:cNvPr id="2" name="Rectangle 2"/>
            <p:cNvSpPr/>
            <p:nvPr/>
          </p:nvSpPr>
          <p:spPr>
            <a:xfrm>
              <a:off x="457200" y="352425"/>
              <a:ext cx="57150" cy="476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9892" y="330518"/>
              <a:ext cx="1499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9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P03 / 服务质效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748" y="49815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办件增长、效率提升、线上协同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57867" y="34671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审批服务局｜2026年上半年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457200" y="10287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19050">
            <a:solidFill>
              <a:schemeClr val="accent5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438150" y="1330642"/>
            <a:ext cx="4695642" cy="3365945"/>
            <a:chOff x="438150" y="1330642"/>
            <a:chExt cx="4695642" cy="3365945"/>
          </a:xfrm>
        </p:grpSpPr>
        <p:sp>
          <p:nvSpPr>
            <p:cNvPr id="8" name="TextBox 8"/>
            <p:cNvSpPr txBox="1"/>
            <p:nvPr/>
          </p:nvSpPr>
          <p:spPr>
            <a:xfrm>
              <a:off x="450342" y="1330642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大厅累计办理各类业务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8150" y="1830705"/>
              <a:ext cx="4695642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434,069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344" y="2827972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" y="327660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8056" y="34156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日均办件量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9671" y="334422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3,529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88030" y="34480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3952875"/>
              <a:ext cx="2381250" cy="647700"/>
            </a:xfrm>
            <a:prstGeom prst="roundRect">
              <a:avLst>
                <a:gd name="adj" fmla="val 1176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892" y="40738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同比增长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558" y="4227195"/>
              <a:ext cx="12117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+12.9%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0" y="1257300"/>
            <a:ext cx="3143250" cy="3714750"/>
            <a:chOff x="4762500" y="1257300"/>
            <a:chExt cx="3143250" cy="3714750"/>
          </a:xfrm>
        </p:grpSpPr>
        <p:sp>
          <p:nvSpPr>
            <p:cNvPr id="19" name="Rectangle 19"/>
            <p:cNvSpPr/>
            <p:nvPr/>
          </p:nvSpPr>
          <p:spPr>
            <a:xfrm>
              <a:off x="4762500" y="1257300"/>
              <a:ext cx="3143250" cy="3714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03292" y="1416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线上协同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1768" y="1660208"/>
              <a:ext cx="2174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线上办件占比 52.6%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353050" y="2029385"/>
              <a:ext cx="1961625" cy="1837765"/>
              <a:chOff x="5353050" y="2029385"/>
              <a:chExt cx="1961625" cy="18377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5476875" y="2152650"/>
                <a:ext cx="1714500" cy="1714500"/>
              </a:xfrm>
              <a:prstGeom prst="ellipse">
                <a:avLst/>
              </a:prstGeom>
              <a:noFill/>
              <a:ln w="247650">
                <a:solidFill>
                  <a:srgbClr val="E8EEF3"/>
                </a:solidFill>
              </a:ln>
            </p:spPr>
          </p:sp>
          <p:sp>
            <p:nvSpPr>
              <p:cNvPr id="23" name="Arc 23"/>
              <p:cNvSpPr/>
              <p:nvPr/>
            </p:nvSpPr>
            <p:spPr>
              <a:xfrm>
                <a:off x="5353050" y="2029385"/>
                <a:ext cx="1961625" cy="1144418"/>
              </a:xfrm>
              <a:custGeom>
                <a:avLst/>
                <a:gdLst/>
                <a:ahLst/>
                <a:cxnLst/>
                <a:rect l="l" t="t" r="r" b="b"/>
                <a:pathLst>
                  <a:path w="1961625" h="1144418">
                    <a:moveTo>
                      <a:pt x="0" y="980515"/>
                    </a:moveTo>
                    <a:lnTo>
                      <a:pt x="4929" y="882292"/>
                    </a:lnTo>
                    <a:lnTo>
                      <a:pt x="19668" y="785055"/>
                    </a:lnTo>
                    <a:lnTo>
                      <a:pt x="44068" y="689783"/>
                    </a:lnTo>
                    <a:lnTo>
                      <a:pt x="77883" y="597432"/>
                    </a:lnTo>
                    <a:lnTo>
                      <a:pt x="120775" y="508931"/>
                    </a:lnTo>
                    <a:lnTo>
                      <a:pt x="172311" y="425169"/>
                    </a:lnTo>
                    <a:lnTo>
                      <a:pt x="231975" y="346987"/>
                    </a:lnTo>
                    <a:lnTo>
                      <a:pt x="299167" y="275172"/>
                    </a:lnTo>
                    <a:lnTo>
                      <a:pt x="373210" y="210445"/>
                    </a:lnTo>
                    <a:lnTo>
                      <a:pt x="453363" y="153455"/>
                    </a:lnTo>
                    <a:lnTo>
                      <a:pt x="538818" y="104777"/>
                    </a:lnTo>
                    <a:lnTo>
                      <a:pt x="628717" y="64899"/>
                    </a:lnTo>
                    <a:lnTo>
                      <a:pt x="722158" y="34223"/>
                    </a:lnTo>
                    <a:lnTo>
                      <a:pt x="818200" y="13055"/>
                    </a:lnTo>
                    <a:lnTo>
                      <a:pt x="915878" y="1609"/>
                    </a:lnTo>
                    <a:lnTo>
                      <a:pt x="1014212" y="0"/>
                    </a:lnTo>
                    <a:lnTo>
                      <a:pt x="1112213" y="8244"/>
                    </a:lnTo>
                    <a:lnTo>
                      <a:pt x="1208896" y="26259"/>
                    </a:lnTo>
                    <a:lnTo>
                      <a:pt x="1303290" y="53862"/>
                    </a:lnTo>
                    <a:lnTo>
                      <a:pt x="1394446" y="90778"/>
                    </a:lnTo>
                    <a:lnTo>
                      <a:pt x="1481448" y="136634"/>
                    </a:lnTo>
                    <a:lnTo>
                      <a:pt x="1563421" y="190971"/>
                    </a:lnTo>
                    <a:lnTo>
                      <a:pt x="1639543" y="253241"/>
                    </a:lnTo>
                    <a:lnTo>
                      <a:pt x="1709048" y="322820"/>
                    </a:lnTo>
                    <a:lnTo>
                      <a:pt x="1771238" y="399008"/>
                    </a:lnTo>
                    <a:lnTo>
                      <a:pt x="1825487" y="481039"/>
                    </a:lnTo>
                    <a:lnTo>
                      <a:pt x="1871251" y="568090"/>
                    </a:lnTo>
                    <a:lnTo>
                      <a:pt x="1908070" y="659285"/>
                    </a:lnTo>
                    <a:lnTo>
                      <a:pt x="1935573" y="753708"/>
                    </a:lnTo>
                    <a:lnTo>
                      <a:pt x="1953485" y="850410"/>
                    </a:lnTo>
                    <a:lnTo>
                      <a:pt x="1961625" y="948420"/>
                    </a:lnTo>
                    <a:lnTo>
                      <a:pt x="1959911" y="1046752"/>
                    </a:lnTo>
                    <a:lnTo>
                      <a:pt x="1948362" y="1144418"/>
                    </a:lnTo>
                    <a:lnTo>
                      <a:pt x="1704192" y="1103045"/>
                    </a:lnTo>
                    <a:lnTo>
                      <a:pt x="1712827" y="1030032"/>
                    </a:lnTo>
                    <a:lnTo>
                      <a:pt x="1714107" y="956521"/>
                    </a:lnTo>
                    <a:lnTo>
                      <a:pt x="1708022" y="883252"/>
                    </a:lnTo>
                    <a:lnTo>
                      <a:pt x="1694632" y="810960"/>
                    </a:lnTo>
                    <a:lnTo>
                      <a:pt x="1674071" y="740372"/>
                    </a:lnTo>
                    <a:lnTo>
                      <a:pt x="1646546" y="672197"/>
                    </a:lnTo>
                    <a:lnTo>
                      <a:pt x="1612335" y="607120"/>
                    </a:lnTo>
                    <a:lnTo>
                      <a:pt x="1571779" y="545796"/>
                    </a:lnTo>
                    <a:lnTo>
                      <a:pt x="1525288" y="488840"/>
                    </a:lnTo>
                    <a:lnTo>
                      <a:pt x="1473328" y="436825"/>
                    </a:lnTo>
                    <a:lnTo>
                      <a:pt x="1416421" y="390273"/>
                    </a:lnTo>
                    <a:lnTo>
                      <a:pt x="1355140" y="349653"/>
                    </a:lnTo>
                    <a:lnTo>
                      <a:pt x="1290100" y="315372"/>
                    </a:lnTo>
                    <a:lnTo>
                      <a:pt x="1221954" y="287775"/>
                    </a:lnTo>
                    <a:lnTo>
                      <a:pt x="1151388" y="267139"/>
                    </a:lnTo>
                    <a:lnTo>
                      <a:pt x="1079110" y="253672"/>
                    </a:lnTo>
                    <a:lnTo>
                      <a:pt x="1005847" y="247509"/>
                    </a:lnTo>
                    <a:lnTo>
                      <a:pt x="932336" y="248711"/>
                    </a:lnTo>
                    <a:lnTo>
                      <a:pt x="859314" y="257268"/>
                    </a:lnTo>
                    <a:lnTo>
                      <a:pt x="787515" y="273093"/>
                    </a:lnTo>
                    <a:lnTo>
                      <a:pt x="717662" y="296026"/>
                    </a:lnTo>
                    <a:lnTo>
                      <a:pt x="650456" y="325837"/>
                    </a:lnTo>
                    <a:lnTo>
                      <a:pt x="586572" y="362228"/>
                    </a:lnTo>
                    <a:lnTo>
                      <a:pt x="526652" y="404831"/>
                    </a:lnTo>
                    <a:lnTo>
                      <a:pt x="471299" y="453220"/>
                    </a:lnTo>
                    <a:lnTo>
                      <a:pt x="421068" y="506907"/>
                    </a:lnTo>
                    <a:lnTo>
                      <a:pt x="376465" y="565353"/>
                    </a:lnTo>
                    <a:lnTo>
                      <a:pt x="337938" y="627972"/>
                    </a:lnTo>
                    <a:lnTo>
                      <a:pt x="305873" y="694133"/>
                    </a:lnTo>
                    <a:lnTo>
                      <a:pt x="280594" y="763172"/>
                    </a:lnTo>
                    <a:lnTo>
                      <a:pt x="262353" y="834395"/>
                    </a:lnTo>
                    <a:lnTo>
                      <a:pt x="251335" y="907086"/>
                    </a:lnTo>
                    <a:lnTo>
                      <a:pt x="247650" y="9805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29335" y="2606040"/>
              <a:ext cx="1409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52.6%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83940" y="3100864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228,367 件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010150" y="41719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03292" y="4331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同比提高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54333" y="4233862"/>
              <a:ext cx="19151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0.7 个百分点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72450" y="1330642"/>
            <a:ext cx="3571875" cy="3158014"/>
            <a:chOff x="8172450" y="1330642"/>
            <a:chExt cx="3571875" cy="3158014"/>
          </a:xfrm>
        </p:grpSpPr>
        <p:sp>
          <p:nvSpPr>
            <p:cNvPr id="31" name="TextBox 31"/>
            <p:cNvSpPr txBox="1"/>
            <p:nvPr/>
          </p:nvSpPr>
          <p:spPr>
            <a:xfrm>
              <a:off x="8184642" y="13306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企业服务结构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72450" y="1544955"/>
              <a:ext cx="228510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63.8%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3118" y="22031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企业主体业务占总量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3880" y="2514600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276,924 件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191500" y="2943225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85023" y="311991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市场主体存量（截至6月30日）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56715" y="3055144"/>
              <a:ext cx="13876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8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118,456 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5023" y="34151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较去年净增长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49028" y="3350419"/>
              <a:ext cx="109529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6,822 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85023" y="389143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纳税人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02872" y="3826669"/>
              <a:ext cx="12414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8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85,720 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5023" y="41867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较去年增长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02872" y="4121944"/>
              <a:ext cx="12414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10,835 户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7200" y="5238750"/>
            <a:ext cx="11277600" cy="683895"/>
            <a:chOff x="457200" y="5238750"/>
            <a:chExt cx="11277600" cy="683895"/>
          </a:xfrm>
        </p:grpSpPr>
        <p:sp>
          <p:nvSpPr>
            <p:cNvPr id="45" name="Rectangle 45"/>
            <p:cNvSpPr/>
            <p:nvPr/>
          </p:nvSpPr>
          <p:spPr>
            <a:xfrm>
              <a:off x="457200" y="5238750"/>
              <a:ext cx="112776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8662" y="5457825"/>
              <a:ext cx="257175" cy="238125"/>
              <a:chOff x="728662" y="5457825"/>
              <a:chExt cx="257175" cy="2381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28662" y="5572125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00012"/>
                    </a:lnTo>
                    <a:cubicBezTo>
                      <a:pt x="85725" y="107903"/>
                      <a:pt x="79328" y="114300"/>
                      <a:pt x="71438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00112" y="5514975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57162"/>
                    </a:lnTo>
                    <a:cubicBezTo>
                      <a:pt x="85725" y="165053"/>
                      <a:pt x="79328" y="171450"/>
                      <a:pt x="7143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4388" y="5457825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214312"/>
                    </a:lnTo>
                    <a:cubicBezTo>
                      <a:pt x="85725" y="222203"/>
                      <a:pt x="79328" y="228600"/>
                      <a:pt x="71438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42950" y="5686425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192530" y="5353050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业务增长与线上协同并行：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92530" y="5629275"/>
              <a:ext cx="7557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43.41 万件累计办件为底座，线上办理占比过半、企业主体业务占比近三分之二。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51104" y="6191250"/>
            <a:ext cx="11289792" cy="352806"/>
            <a:chOff x="451104" y="6191250"/>
            <a:chExt cx="11289792" cy="352806"/>
          </a:xfrm>
        </p:grpSpPr>
        <p:sp>
          <p:nvSpPr>
            <p:cNvPr id="54" name="Line 54"/>
            <p:cNvSpPr/>
            <p:nvPr/>
          </p:nvSpPr>
          <p:spPr>
            <a:xfrm>
              <a:off x="457200" y="6191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1104" y="6309360"/>
              <a:ext cx="5246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数据来源：审批服务局2026年上半年工作总结；统计口径：2026年上半年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51006" y="63093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57200" y="330518"/>
            <a:ext cx="11283696" cy="783717"/>
            <a:chOff x="457200" y="330518"/>
            <a:chExt cx="11283696" cy="783717"/>
          </a:xfrm>
        </p:grpSpPr>
        <p:sp>
          <p:nvSpPr>
            <p:cNvPr id="2" name="Rectangle 2"/>
            <p:cNvSpPr/>
            <p:nvPr/>
          </p:nvSpPr>
          <p:spPr>
            <a:xfrm>
              <a:off x="457200" y="352425"/>
              <a:ext cx="57150" cy="476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9892" y="330518"/>
              <a:ext cx="1499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9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P05 / 民生机制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748" y="498158"/>
              <a:ext cx="108525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以闭环协同和场景延伸，把服务做进基层与群众身边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57867" y="34671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审批服务局｜2026年上半年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457200" y="10477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19050">
            <a:solidFill>
              <a:schemeClr val="accent5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358292" y="1409700"/>
            <a:ext cx="5832958" cy="3780853"/>
            <a:chOff x="358292" y="1409700"/>
            <a:chExt cx="5832958" cy="3780853"/>
          </a:xfrm>
        </p:grpSpPr>
        <p:sp>
          <p:nvSpPr>
            <p:cNvPr id="8" name="TextBox 8"/>
            <p:cNvSpPr txBox="1"/>
            <p:nvPr/>
          </p:nvSpPr>
          <p:spPr>
            <a:xfrm>
              <a:off x="449580" y="1409700"/>
              <a:ext cx="3852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“一表通”以全链条闭环减少基层重复报送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0342" y="171164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数据一次采集、多方复用；仅呈现材料明确的闭环机制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" y="2609850"/>
              <a:ext cx="4362450" cy="9525"/>
            </a:xfrm>
            <a:custGeom>
              <a:avLst/>
              <a:gdLst/>
              <a:ahLst/>
              <a:cxnLst/>
              <a:rect l="l" t="t" r="r" b="b"/>
              <a:pathLst>
                <a:path w="4362450" h="9525">
                  <a:moveTo>
                    <a:pt x="0" y="0"/>
                  </a:moveTo>
                  <a:lnTo>
                    <a:pt x="4362450" y="0"/>
                  </a:lnTo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58292" y="2228850"/>
              <a:ext cx="1036015" cy="1394651"/>
              <a:chOff x="358292" y="2228850"/>
              <a:chExt cx="1036015" cy="1394651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495300" y="22288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9642" y="249840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8292" y="30251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任务部署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05968" y="33594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专班统筹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539517" y="2228850"/>
              <a:ext cx="1036015" cy="1394651"/>
              <a:chOff x="2539517" y="2228850"/>
              <a:chExt cx="1036015" cy="1394651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676525" y="2228850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920867" y="249840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539517" y="30251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督办整改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687193" y="33594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试点推进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720742" y="2228850"/>
              <a:ext cx="1036015" cy="1394651"/>
              <a:chOff x="4720742" y="2228850"/>
              <a:chExt cx="1036015" cy="1394651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4857750" y="222885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102092" y="249840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20742" y="302514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成效复盘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868418" y="33594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持续精简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57200" y="3943350"/>
              <a:ext cx="5734050" cy="1247203"/>
              <a:chOff x="457200" y="3943350"/>
              <a:chExt cx="5734050" cy="1247203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57200" y="3943350"/>
                <a:ext cx="5734050" cy="9144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942" y="40833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全覆盖摸排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4370" y="4329112"/>
                <a:ext cx="1803883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 + 6 + 101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945892" y="4426268"/>
                <a:ext cx="224908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部门 / 办事处 / 村（社区）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685800" y="4705350"/>
                <a:ext cx="5276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76850" h="9525">
                    <a:moveTo>
                      <a:pt x="0" y="0"/>
                    </a:moveTo>
                    <a:lnTo>
                      <a:pt x="52768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8942" y="4873942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411 个账号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964942" y="4873942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区级报表精简至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30022" y="4809172"/>
                <a:ext cx="83293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95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112 项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6945630" y="1409700"/>
            <a:ext cx="4789170" cy="3448050"/>
            <a:chOff x="6945630" y="1409700"/>
            <a:chExt cx="4789170" cy="3448050"/>
          </a:xfrm>
        </p:grpSpPr>
        <p:sp>
          <p:nvSpPr>
            <p:cNvPr id="36" name="TextBox 36"/>
            <p:cNvSpPr txBox="1"/>
            <p:nvPr/>
          </p:nvSpPr>
          <p:spPr>
            <a:xfrm>
              <a:off x="6945630" y="1409700"/>
              <a:ext cx="3640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跨部门场景与“有诉即办”形成体验支撑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953250" y="1962150"/>
              <a:ext cx="4781550" cy="1257300"/>
              <a:chOff x="6953250" y="1962150"/>
              <a:chExt cx="4781550" cy="12573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953250" y="1962150"/>
                <a:ext cx="4781550" cy="125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7284244" y="2255044"/>
                <a:ext cx="385762" cy="385762"/>
                <a:chOff x="7284244" y="2255044"/>
                <a:chExt cx="385762" cy="385762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7284244" y="2255044"/>
                  <a:ext cx="385762" cy="385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762" h="385762">
                      <a:moveTo>
                        <a:pt x="107156" y="128588"/>
                      </a:moveTo>
                      <a:lnTo>
                        <a:pt x="214312" y="235744"/>
                      </a:lnTo>
                      <a:lnTo>
                        <a:pt x="214312" y="385762"/>
                      </a:lnTo>
                      <a:lnTo>
                        <a:pt x="107156" y="385762"/>
                      </a:lnTo>
                      <a:lnTo>
                        <a:pt x="107156" y="300038"/>
                      </a:lnTo>
                      <a:moveTo>
                        <a:pt x="107156" y="385762"/>
                      </a:moveTo>
                      <a:lnTo>
                        <a:pt x="0" y="385762"/>
                      </a:lnTo>
                      <a:lnTo>
                        <a:pt x="0" y="235744"/>
                      </a:lnTo>
                      <a:lnTo>
                        <a:pt x="107156" y="128588"/>
                      </a:lnTo>
                      <a:moveTo>
                        <a:pt x="128588" y="150019"/>
                      </a:moveTo>
                      <a:lnTo>
                        <a:pt x="128588" y="21431"/>
                      </a:lnTo>
                      <a:cubicBezTo>
                        <a:pt x="128588" y="9595"/>
                        <a:pt x="138183" y="0"/>
                        <a:pt x="150019" y="0"/>
                      </a:cubicBezTo>
                      <a:lnTo>
                        <a:pt x="364331" y="0"/>
                      </a:lnTo>
                      <a:cubicBezTo>
                        <a:pt x="376167" y="0"/>
                        <a:pt x="385762" y="9595"/>
                        <a:pt x="385762" y="21431"/>
                      </a:cubicBezTo>
                      <a:lnTo>
                        <a:pt x="385762" y="385762"/>
                      </a:lnTo>
                      <a:lnTo>
                        <a:pt x="214312" y="385762"/>
                      </a:lnTo>
                    </a:path>
                  </a:pathLst>
                </a:custGeom>
                <a:noFill/>
                <a:ln w="42862">
                  <a:solidFill>
                    <a:srgbClr val="FFF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498556" y="23407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214"/>
                      </a:lnTo>
                    </a:path>
                  </a:pathLst>
                </a:custGeom>
                <a:noFill/>
                <a:ln w="42862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584281" y="23407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214"/>
                      </a:lnTo>
                    </a:path>
                  </a:pathLst>
                </a:custGeom>
                <a:noFill/>
                <a:ln w="42862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584281" y="2426494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214"/>
                      </a:lnTo>
                    </a:path>
                  </a:pathLst>
                </a:custGeom>
                <a:noFill/>
                <a:ln w="42862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584281" y="251221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214"/>
                      </a:lnTo>
                    </a:path>
                  </a:pathLst>
                </a:custGeom>
                <a:noFill/>
                <a:ln w="42862">
                  <a:solidFill>
                    <a:srgbClr val="FFFFFF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7955280" y="2162175"/>
                <a:ext cx="17417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政务+工会服务平台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943850" y="2455545"/>
                <a:ext cx="2688351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9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2万余人次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956423" y="2957989"/>
                <a:ext cx="32869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E8EEF3"/>
                    </a:solidFill>
                    <a:latin typeface="+mn-lt"/>
                    <a:ea typeface="+mn-ea"/>
                    <a:cs typeface="+mn-cs"/>
                  </a:rPr>
                  <a:t>政务服务、法律维权、零工就业、休憩阅读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953250" y="3429000"/>
              <a:ext cx="4781550" cy="1428750"/>
              <a:chOff x="6953250" y="3429000"/>
              <a:chExt cx="4781550" cy="14287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953250" y="3429000"/>
                <a:ext cx="4781550" cy="14287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311231" y="3740944"/>
                <a:ext cx="255588" cy="328613"/>
                <a:chOff x="7311231" y="3740944"/>
                <a:chExt cx="255588" cy="328613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7311231" y="3777456"/>
                  <a:ext cx="255588" cy="29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588" h="292101">
                      <a:moveTo>
                        <a:pt x="73025" y="0"/>
                      </a:moveTo>
                      <a:lnTo>
                        <a:pt x="36513" y="0"/>
                      </a:lnTo>
                      <a:cubicBezTo>
                        <a:pt x="16347" y="0"/>
                        <a:pt x="0" y="16347"/>
                        <a:pt x="0" y="36513"/>
                      </a:cubicBezTo>
                      <a:lnTo>
                        <a:pt x="0" y="255588"/>
                      </a:lnTo>
                      <a:cubicBezTo>
                        <a:pt x="0" y="275753"/>
                        <a:pt x="16347" y="292101"/>
                        <a:pt x="36513" y="292101"/>
                      </a:cubicBezTo>
                      <a:lnTo>
                        <a:pt x="219075" y="292101"/>
                      </a:lnTo>
                      <a:cubicBezTo>
                        <a:pt x="239241" y="292101"/>
                        <a:pt x="255588" y="275753"/>
                        <a:pt x="255588" y="255588"/>
                      </a:cubicBezTo>
                      <a:lnTo>
                        <a:pt x="255588" y="36513"/>
                      </a:lnTo>
                      <a:cubicBezTo>
                        <a:pt x="255588" y="16347"/>
                        <a:pt x="239241" y="0"/>
                        <a:pt x="219075" y="0"/>
                      </a:cubicBezTo>
                      <a:lnTo>
                        <a:pt x="182563" y="0"/>
                      </a:lnTo>
                    </a:path>
                  </a:pathLst>
                </a:custGeom>
                <a:noFill/>
                <a:ln w="36513">
                  <a:solidFill>
                    <a:schemeClr val="accent2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7384257" y="3740944"/>
                  <a:ext cx="109538" cy="7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8" h="73025">
                      <a:moveTo>
                        <a:pt x="0" y="36513"/>
                      </a:moveTo>
                      <a:cubicBezTo>
                        <a:pt x="0" y="16347"/>
                        <a:pt x="16347" y="0"/>
                        <a:pt x="36513" y="0"/>
                      </a:cubicBezTo>
                      <a:lnTo>
                        <a:pt x="73025" y="0"/>
                      </a:lnTo>
                      <a:cubicBezTo>
                        <a:pt x="93190" y="0"/>
                        <a:pt x="109538" y="16347"/>
                        <a:pt x="109538" y="36513"/>
                      </a:cubicBezTo>
                      <a:cubicBezTo>
                        <a:pt x="109538" y="56678"/>
                        <a:pt x="93190" y="73025"/>
                        <a:pt x="73025" y="73025"/>
                      </a:cubicBezTo>
                      <a:lnTo>
                        <a:pt x="36513" y="73025"/>
                      </a:lnTo>
                      <a:cubicBezTo>
                        <a:pt x="16347" y="73025"/>
                        <a:pt x="0" y="56678"/>
                        <a:pt x="0" y="36513"/>
                      </a:cubicBezTo>
                    </a:path>
                  </a:pathLst>
                </a:custGeom>
                <a:noFill/>
                <a:ln w="36513">
                  <a:solidFill>
                    <a:schemeClr val="accent2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7384257" y="39052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83" y="0"/>
                      </a:lnTo>
                    </a:path>
                  </a:pathLst>
                </a:custGeom>
                <a:noFill/>
                <a:ln w="36513">
                  <a:solidFill>
                    <a:schemeClr val="accent2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457282" y="3905250"/>
                  <a:ext cx="365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3" h="9525">
                      <a:moveTo>
                        <a:pt x="0" y="0"/>
                      </a:moveTo>
                      <a:lnTo>
                        <a:pt x="36513" y="0"/>
                      </a:lnTo>
                    </a:path>
                  </a:pathLst>
                </a:custGeom>
                <a:noFill/>
                <a:ln w="36513">
                  <a:solidFill>
                    <a:schemeClr val="accent2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384257" y="39782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83" y="0"/>
                      </a:lnTo>
                    </a:path>
                  </a:pathLst>
                </a:custGeom>
                <a:noFill/>
                <a:ln w="36513">
                  <a:solidFill>
                    <a:schemeClr val="accent2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57282" y="3978276"/>
                  <a:ext cx="365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13" h="9525">
                      <a:moveTo>
                        <a:pt x="0" y="0"/>
                      </a:moveTo>
                      <a:lnTo>
                        <a:pt x="36513" y="0"/>
                      </a:lnTo>
                    </a:path>
                  </a:pathLst>
                </a:custGeom>
                <a:noFill/>
                <a:ln w="36513">
                  <a:solidFill>
                    <a:schemeClr val="accent2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879080" y="3695700"/>
                <a:ext cx="29836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有诉即办，推动诉求在大厅化解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200900" y="4030028"/>
                <a:ext cx="1822483" cy="790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0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197 件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345930" y="4267200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上半年解决群众各类诉求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213473" y="4577239"/>
                <a:ext cx="27872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已开展场景：政务+健康｜政务+婚检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457200" y="5334000"/>
            <a:ext cx="11277600" cy="571500"/>
            <a:chOff x="457200" y="5334000"/>
            <a:chExt cx="11277600" cy="571500"/>
          </a:xfrm>
        </p:grpSpPr>
        <p:sp>
          <p:nvSpPr>
            <p:cNvPr id="62" name="Rectangle 62"/>
            <p:cNvSpPr/>
            <p:nvPr/>
          </p:nvSpPr>
          <p:spPr>
            <a:xfrm>
              <a:off x="457200" y="5334000"/>
              <a:ext cx="112776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8180" y="5524500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机制负责减负，场景负责体验：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45180" y="5524500"/>
              <a:ext cx="5285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“一表通”闭环与并列服务场景共同延伸基层政务服务触点。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191250"/>
            <a:ext cx="11289792" cy="352806"/>
            <a:chOff x="451104" y="6191250"/>
            <a:chExt cx="11289792" cy="352806"/>
          </a:xfrm>
        </p:grpSpPr>
        <p:sp>
          <p:nvSpPr>
            <p:cNvPr id="66" name="Line 66"/>
            <p:cNvSpPr/>
            <p:nvPr/>
          </p:nvSpPr>
          <p:spPr>
            <a:xfrm>
              <a:off x="457200" y="6191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51104" y="6309360"/>
              <a:ext cx="6231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数据来源：审批服务局2026年上半年工作总结；“政务+健康”“政务+婚检”为已开展场景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51006" y="63093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57200" y="330518"/>
            <a:ext cx="11283696" cy="783717"/>
            <a:chOff x="457200" y="330518"/>
            <a:chExt cx="11283696" cy="783717"/>
          </a:xfrm>
        </p:grpSpPr>
        <p:sp>
          <p:nvSpPr>
            <p:cNvPr id="2" name="Rectangle 2"/>
            <p:cNvSpPr/>
            <p:nvPr/>
          </p:nvSpPr>
          <p:spPr>
            <a:xfrm>
              <a:off x="457200" y="352425"/>
              <a:ext cx="57150" cy="476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9892" y="330518"/>
              <a:ext cx="1714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9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P06 / 下半年谋划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50748" y="498158"/>
              <a:ext cx="108525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六项重点并列推进，把阶段改革转化为常态服务能力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757867" y="34671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审批服务局｜2026年下半年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457200" y="10477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19050">
            <a:solidFill>
              <a:schemeClr val="accent5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457200" y="1238250"/>
            <a:ext cx="11277600" cy="937831"/>
            <a:chOff x="457200" y="1238250"/>
            <a:chExt cx="11277600" cy="937831"/>
          </a:xfrm>
        </p:grpSpPr>
        <p:sp>
          <p:nvSpPr>
            <p:cNvPr id="8" name="Rectangle 8"/>
            <p:cNvSpPr/>
            <p:nvPr/>
          </p:nvSpPr>
          <p:spPr>
            <a:xfrm>
              <a:off x="457200" y="1238250"/>
              <a:ext cx="1127760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6092" y="14354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EF3"/>
                  </a:solidFill>
                  <a:latin typeface="+mn-lt"/>
                  <a:ea typeface="+mn-ea"/>
                  <a:cs typeface="+mn-cs"/>
                </a:rPr>
                <a:t>下半年总体目标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1677352"/>
              <a:ext cx="72620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让高效便捷的政务服务触手可及、时刻在线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56560" y="1790700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E8EEF3"/>
                  </a:solidFill>
                  <a:latin typeface="+mn-lt"/>
                  <a:ea typeface="+mn-ea"/>
                  <a:cs typeface="+mn-cs"/>
                </a:rPr>
                <a:t>阶段成果 → 常态服务能力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2343150"/>
            <a:ext cx="11277600" cy="3143250"/>
            <a:chOff x="457200" y="2343150"/>
            <a:chExt cx="11277600" cy="3143250"/>
          </a:xfrm>
        </p:grpSpPr>
        <p:grpSp>
          <p:nvGrpSpPr>
            <p:cNvPr id="20" name="Group 20"/>
            <p:cNvGrpSpPr/>
            <p:nvPr/>
          </p:nvGrpSpPr>
          <p:grpSpPr>
            <a:xfrm>
              <a:off x="457200" y="2343150"/>
              <a:ext cx="3543300" cy="1466850"/>
              <a:chOff x="457200" y="2343150"/>
              <a:chExt cx="3543300" cy="1466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57200" y="2343150"/>
                <a:ext cx="3543300" cy="14668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609600" y="251460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69239" y="25974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96137" y="2547461"/>
                <a:ext cx="2205639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攻坚任务与民生实事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723900" y="29527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19050">
                <a:solidFill>
                  <a:srgbClr val="E8EEF3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15899" y="3125629"/>
                <a:ext cx="21429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网络计划书、挂图作战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17423" y="3453289"/>
                <a:ext cx="25976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牵头任务抓节点，配合任务强台账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24350" y="2343150"/>
              <a:ext cx="3543300" cy="1466850"/>
              <a:chOff x="4324350" y="2343150"/>
              <a:chExt cx="3543300" cy="1466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324350" y="2343150"/>
                <a:ext cx="3543300" cy="14668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47675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36389" y="25974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963287" y="2547461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招商包保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4591050" y="29527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19050">
                <a:solidFill>
                  <a:srgbClr val="E8EEF3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583049" y="3125629"/>
                <a:ext cx="28023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推动项目落地、服务47家企业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84573" y="3453289"/>
                <a:ext cx="220995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诉求“收集—办理—反馈—销号”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91500" y="2343150"/>
              <a:ext cx="3543300" cy="1466850"/>
              <a:chOff x="8191500" y="2343150"/>
              <a:chExt cx="3543300" cy="14668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191500" y="2343150"/>
                <a:ext cx="3543300" cy="14668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8343900" y="25146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403539" y="25974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830437" y="2547461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审批改革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8458200" y="29527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19050">
                <a:solidFill>
                  <a:srgbClr val="E8EEF3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50199" y="3125629"/>
                <a:ext cx="278109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承接新事项，巩固已上线成效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451723" y="3453289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聚焦多次跑、往返跑堵点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57200" y="4019550"/>
              <a:ext cx="3543300" cy="1466850"/>
              <a:chOff x="457200" y="4019550"/>
              <a:chExt cx="3543300" cy="14668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57200" y="4019550"/>
                <a:ext cx="3543300" cy="14668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609600" y="4191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69239" y="42738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96137" y="4223861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专区增值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723900" y="46291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19050">
                <a:solidFill>
                  <a:srgbClr val="E8EEF3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15899" y="4802029"/>
                <a:ext cx="19302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资源联动与服务下沉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17423" y="5129689"/>
                <a:ext cx="22530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丰富内容，打通惠企服务末梢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324350" y="4019550"/>
              <a:ext cx="3543300" cy="1466850"/>
              <a:chOff x="4324350" y="4019550"/>
              <a:chExt cx="3543300" cy="14668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324350" y="4019550"/>
                <a:ext cx="3543300" cy="14668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476750" y="419100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536389" y="42738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963287" y="4223861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数字赋能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4591050" y="46291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19050">
                <a:solidFill>
                  <a:srgbClr val="E8EEF3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583049" y="4802029"/>
                <a:ext cx="232379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高小·i、免证办、一表通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584573" y="5129689"/>
                <a:ext cx="22530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继续研发建设与动态承接并行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91500" y="4019550"/>
              <a:ext cx="3543300" cy="1466850"/>
              <a:chOff x="8191500" y="4019550"/>
              <a:chExt cx="3543300" cy="14668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191500" y="4019550"/>
                <a:ext cx="3543300" cy="14668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accent5"/>
                </a:solidFill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8343900" y="41910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403539" y="42738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06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830437" y="4223861"/>
                <a:ext cx="99002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服务下沉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8458200" y="4629150"/>
                <a:ext cx="3009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9900" h="9525">
                    <a:moveTo>
                      <a:pt x="0" y="0"/>
                    </a:moveTo>
                    <a:lnTo>
                      <a:pt x="3009900" y="0"/>
                    </a:lnTo>
                  </a:path>
                </a:pathLst>
              </a:custGeom>
              <a:noFill/>
              <a:ln w="19050">
                <a:solidFill>
                  <a:srgbClr val="E8EEF3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450199" y="4802029"/>
                <a:ext cx="2802367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15分钟便民服务圈、有诉即办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451723" y="512968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惠企服务与微创新持续拓展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451104" y="6191250"/>
            <a:ext cx="11289792" cy="352806"/>
            <a:chOff x="451104" y="6191250"/>
            <a:chExt cx="11289792" cy="352806"/>
          </a:xfrm>
        </p:grpSpPr>
        <p:sp>
          <p:nvSpPr>
            <p:cNvPr id="62" name="Line 62"/>
            <p:cNvSpPr/>
            <p:nvPr/>
          </p:nvSpPr>
          <p:spPr>
            <a:xfrm>
              <a:off x="457200" y="6191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51104" y="6309360"/>
              <a:ext cx="4850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依据下半年工作谋划；“高小·i”属继续研发建设，未表述为既成能力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51006" y="63093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roval-router-b2">
  <a:themeElements>
    <a:clrScheme name="approval-router-b2">
      <a:dk1>
        <a:srgbClr val="18242E"/>
      </a:dk1>
      <a:lt1>
        <a:srgbClr val="F6F3ED"/>
      </a:lt1>
      <a:dk2>
        <a:srgbClr val="1F497D"/>
      </a:dk2>
      <a:lt2>
        <a:srgbClr val="E8EEF3"/>
      </a:lt2>
      <a:accent1>
        <a:srgbClr val="173F63"/>
      </a:accent1>
      <a:accent2>
        <a:srgbClr val="B52B32"/>
      </a:accent2>
      <a:accent3>
        <a:srgbClr val="2E7D79"/>
      </a:accent3>
      <a:accent4>
        <a:srgbClr val="173F63"/>
      </a:accent4>
      <a:accent5>
        <a:srgbClr val="C7D1D9"/>
      </a:accent5>
      <a:accent6>
        <a:srgbClr val="F79646"/>
      </a:accent6>
      <a:hlink>
        <a:srgbClr val="B52B32"/>
      </a:hlink>
      <a:folHlink>
        <a:srgbClr val="2E7D79"/>
      </a:folHlink>
    </a:clrScheme>
    <a:fontScheme name="approval-router-b2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roval-router-b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pproval-router-b2">
  <a:themeElements>
    <a:clrScheme name="approval-router-b2">
      <a:dk1>
        <a:srgbClr val="18242E"/>
      </a:dk1>
      <a:lt1>
        <a:srgbClr val="F6F3ED"/>
      </a:lt1>
      <a:dk2>
        <a:srgbClr val="1F497D"/>
      </a:dk2>
      <a:lt2>
        <a:srgbClr val="E8EEF3"/>
      </a:lt2>
      <a:accent1>
        <a:srgbClr val="173F63"/>
      </a:accent1>
      <a:accent2>
        <a:srgbClr val="B52B32"/>
      </a:accent2>
      <a:accent3>
        <a:srgbClr val="2E7D79"/>
      </a:accent3>
      <a:accent4>
        <a:srgbClr val="173F63"/>
      </a:accent4>
      <a:accent5>
        <a:srgbClr val="C7D1D9"/>
      </a:accent5>
      <a:accent6>
        <a:srgbClr val="F79646"/>
      </a:accent6>
      <a:hlink>
        <a:srgbClr val="B52B32"/>
      </a:hlink>
      <a:folHlink>
        <a:srgbClr val="2E7D79"/>
      </a:folHlink>
    </a:clrScheme>
    <a:fontScheme name="approval-router-b2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roval-router-b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2026-08-09T23:03:24Z</dcterms:created>
  <dcterms:modified xsi:type="dcterms:W3CDTF">2026-08-09T23:03:24Z</dcterms:modified>
  <cp:category/>
  <cp:contentStatus/>
</cp:coreProperties>
</file>